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61c6215c7_1_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g3f61c6215c7_1_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61c6215c7_1_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61c6215c7_1_1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g3f61c6215c7_1_1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f61c6215c7_1_1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61675768c_1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g3f61675768c_1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61675768c_1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61675768c_1_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g3f61675768c_1_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61675768c_1_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61675768c_1_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g3f61675768c_1_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f61675768c_1_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11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19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822960" y="2331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AF6"/>
              </a:buClr>
              <a:buSzPts val="1300"/>
              <a:buFont typeface="Arial"/>
              <a:buNone/>
            </a:pPr>
            <a:r>
              <a:rPr b="1" lang="en-US" sz="1700">
                <a:solidFill>
                  <a:srgbClr val="7C6AF6"/>
                </a:solidFill>
              </a:rPr>
              <a:t>MID</a:t>
            </a:r>
            <a:r>
              <a:rPr b="1" i="0" lang="en-US" sz="1700" u="none" cap="none" strike="noStrike">
                <a:solidFill>
                  <a:srgbClr val="7C6AF6"/>
                </a:solidFill>
                <a:latin typeface="Arial"/>
                <a:ea typeface="Arial"/>
                <a:cs typeface="Arial"/>
                <a:sym typeface="Arial"/>
              </a:rPr>
              <a:t> PRESENTATION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777240" y="2651760"/>
            <a:ext cx="8686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CodeLens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6DA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rgbClr val="C9C6DA"/>
                </a:solidFill>
                <a:latin typeface="Arial"/>
                <a:ea typeface="Arial"/>
                <a:cs typeface="Arial"/>
                <a:sym typeface="Arial"/>
              </a:rPr>
              <a:t>An Enhanced Code Visualization and Quality Analysis 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822960" y="4434840"/>
            <a:ext cx="1005840" cy="45720"/>
          </a:xfrm>
          <a:prstGeom prst="rect">
            <a:avLst/>
          </a:prstGeom>
          <a:solidFill>
            <a:srgbClr val="7C6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2950" y="4617728"/>
            <a:ext cx="8961000" cy="7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7A3"/>
              </a:buClr>
              <a:buSzPts val="13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</a:rPr>
              <a:t>Farjana Sarker Naima - BSSE1449</a:t>
            </a:r>
            <a:endParaRPr b="1" sz="2000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7A3"/>
              </a:buClr>
              <a:buSzPts val="1300"/>
              <a:buFont typeface="Arial"/>
              <a:buNone/>
            </a:pPr>
            <a:r>
              <a:rPr lang="en-US" sz="2000">
                <a:solidFill>
                  <a:srgbClr val="FFFFFF"/>
                </a:solidFill>
              </a:rPr>
              <a:t>Supervised by</a:t>
            </a:r>
            <a:r>
              <a:rPr b="1" lang="en-US" sz="2000">
                <a:solidFill>
                  <a:srgbClr val="FFFFFF"/>
                </a:solidFill>
              </a:rPr>
              <a:t> Dr.  Naushin Nower</a:t>
            </a:r>
            <a:endParaRPr b="1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548640" y="347472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i="0" lang="en-US" sz="14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48640" y="603504"/>
            <a:ext cx="1106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What we'll cover today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11521440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i="0" lang="en-US" sz="1900" u="none" cap="none" strike="noStrike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48640" y="1572768"/>
            <a:ext cx="11064300" cy="6537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868680" y="1572768"/>
            <a:ext cx="82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C6AF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1737350" y="1572764"/>
            <a:ext cx="365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sz="1900"/>
          </a:p>
        </p:txBody>
      </p:sp>
      <p:sp>
        <p:nvSpPr>
          <p:cNvPr id="29" name="Google Shape;29;p4"/>
          <p:cNvSpPr txBox="1"/>
          <p:nvPr/>
        </p:nvSpPr>
        <p:spPr>
          <a:xfrm>
            <a:off x="5486400" y="1572768"/>
            <a:ext cx="5852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A plain-language map of how CodeLens works, for everyone in the room</a:t>
            </a:r>
            <a:endParaRPr sz="1600"/>
          </a:p>
        </p:txBody>
      </p:sp>
      <p:sp>
        <p:nvSpPr>
          <p:cNvPr id="30" name="Google Shape;30;p4"/>
          <p:cNvSpPr/>
          <p:nvPr/>
        </p:nvSpPr>
        <p:spPr>
          <a:xfrm>
            <a:off x="548640" y="2372868"/>
            <a:ext cx="11064300" cy="6537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868680" y="2372868"/>
            <a:ext cx="82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C6AF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1737360" y="2372868"/>
            <a:ext cx="365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Functional Requirements</a:t>
            </a:r>
            <a:endParaRPr sz="1900"/>
          </a:p>
        </p:txBody>
      </p:sp>
      <p:sp>
        <p:nvSpPr>
          <p:cNvPr id="33" name="Google Shape;33;p4"/>
          <p:cNvSpPr txBox="1"/>
          <p:nvPr/>
        </p:nvSpPr>
        <p:spPr>
          <a:xfrm>
            <a:off x="5486400" y="2372868"/>
            <a:ext cx="5852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450" u="none" cap="none" strike="noStrike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3 functional requirements from the SRS, mapped to later feature slides</a:t>
            </a:r>
            <a:endParaRPr sz="1600"/>
          </a:p>
        </p:txBody>
      </p:sp>
      <p:sp>
        <p:nvSpPr>
          <p:cNvPr id="34" name="Google Shape;34;p4"/>
          <p:cNvSpPr/>
          <p:nvPr/>
        </p:nvSpPr>
        <p:spPr>
          <a:xfrm>
            <a:off x="548640" y="3172968"/>
            <a:ext cx="11064300" cy="6537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868680" y="3172968"/>
            <a:ext cx="82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C6AF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1737360" y="3172968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System &amp; Data Modeling</a:t>
            </a:r>
            <a:endParaRPr sz="2000"/>
          </a:p>
        </p:txBody>
      </p:sp>
      <p:sp>
        <p:nvSpPr>
          <p:cNvPr id="37" name="Google Shape;37;p4"/>
          <p:cNvSpPr txBox="1"/>
          <p:nvPr/>
        </p:nvSpPr>
        <p:spPr>
          <a:xfrm>
            <a:off x="5486400" y="3172968"/>
            <a:ext cx="5852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Use case, activity, ER diagrams, and the AI engineering pipeline from the SRS</a:t>
            </a:r>
            <a:endParaRPr sz="1600"/>
          </a:p>
        </p:txBody>
      </p:sp>
      <p:sp>
        <p:nvSpPr>
          <p:cNvPr id="38" name="Google Shape;38;p4"/>
          <p:cNvSpPr/>
          <p:nvPr/>
        </p:nvSpPr>
        <p:spPr>
          <a:xfrm>
            <a:off x="548640" y="3973068"/>
            <a:ext cx="11064300" cy="6537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868680" y="3973068"/>
            <a:ext cx="82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C6AF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1737360" y="3973068"/>
            <a:ext cx="365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Live System Walkthrough</a:t>
            </a:r>
            <a:endParaRPr sz="1900"/>
          </a:p>
        </p:txBody>
      </p:sp>
      <p:sp>
        <p:nvSpPr>
          <p:cNvPr id="41" name="Google Shape;41;p4"/>
          <p:cNvSpPr txBox="1"/>
          <p:nvPr/>
        </p:nvSpPr>
        <p:spPr>
          <a:xfrm>
            <a:off x="5486400" y="3973068"/>
            <a:ext cx="5852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Screenshots of every working feature in the running application</a:t>
            </a:r>
            <a:endParaRPr sz="1600"/>
          </a:p>
        </p:txBody>
      </p:sp>
      <p:sp>
        <p:nvSpPr>
          <p:cNvPr id="42" name="Google Shape;42;p4"/>
          <p:cNvSpPr/>
          <p:nvPr/>
        </p:nvSpPr>
        <p:spPr>
          <a:xfrm>
            <a:off x="548640" y="4773168"/>
            <a:ext cx="11064300" cy="6537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868680" y="4773168"/>
            <a:ext cx="82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C6AF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1691585" y="4773168"/>
            <a:ext cx="365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Project Status</a:t>
            </a:r>
            <a:endParaRPr sz="1900"/>
          </a:p>
        </p:txBody>
      </p:sp>
      <p:sp>
        <p:nvSpPr>
          <p:cNvPr id="45" name="Google Shape;45;p4"/>
          <p:cNvSpPr txBox="1"/>
          <p:nvPr/>
        </p:nvSpPr>
        <p:spPr>
          <a:xfrm>
            <a:off x="5486400" y="4773168"/>
            <a:ext cx="5852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What's completed, in progress, and remaining</a:t>
            </a:r>
            <a:endParaRPr sz="1600"/>
          </a:p>
        </p:txBody>
      </p:sp>
      <p:sp>
        <p:nvSpPr>
          <p:cNvPr id="46" name="Google Shape;46;p4"/>
          <p:cNvSpPr/>
          <p:nvPr/>
        </p:nvSpPr>
        <p:spPr>
          <a:xfrm>
            <a:off x="548640" y="5573268"/>
            <a:ext cx="11064300" cy="6537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868680" y="5573268"/>
            <a:ext cx="82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C6AF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1737360" y="5573268"/>
            <a:ext cx="365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Challenges Faced</a:t>
            </a:r>
            <a:endParaRPr sz="1900"/>
          </a:p>
        </p:txBody>
      </p:sp>
      <p:sp>
        <p:nvSpPr>
          <p:cNvPr id="49" name="Google Shape;49;p4"/>
          <p:cNvSpPr txBox="1"/>
          <p:nvPr/>
        </p:nvSpPr>
        <p:spPr>
          <a:xfrm>
            <a:off x="5486400" y="5573268"/>
            <a:ext cx="5852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The major hurdles encountered during development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GETTING ORIENTED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Project Overview — How CodeLens Works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03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  <p:pic>
        <p:nvPicPr>
          <p:cNvPr id="58" name="Google Shape;5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525" y="1152150"/>
            <a:ext cx="10443609" cy="556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/>
        </p:nvSpPr>
        <p:spPr>
          <a:xfrm>
            <a:off x="548640" y="347472"/>
            <a:ext cx="914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GETTING ORIENTED</a:t>
            </a:r>
            <a:endParaRPr/>
          </a:p>
        </p:txBody>
      </p:sp>
      <p:sp>
        <p:nvSpPr>
          <p:cNvPr id="65" name="Google Shape;65;p6"/>
          <p:cNvSpPr txBox="1"/>
          <p:nvPr/>
        </p:nvSpPr>
        <p:spPr>
          <a:xfrm>
            <a:off x="548640" y="603504"/>
            <a:ext cx="110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Functional Requirements</a:t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548640" y="1600200"/>
            <a:ext cx="3520500" cy="722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694944" y="1600200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FR-1</a:t>
            </a:r>
            <a:endParaRPr/>
          </a:p>
        </p:txBody>
      </p:sp>
      <p:sp>
        <p:nvSpPr>
          <p:cNvPr id="68" name="Google Shape;68;p6"/>
          <p:cNvSpPr txBox="1"/>
          <p:nvPr/>
        </p:nvSpPr>
        <p:spPr>
          <a:xfrm>
            <a:off x="1261872" y="1655064"/>
            <a:ext cx="266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Code Upload &amp; Ingestion</a:t>
            </a:r>
            <a:endParaRPr sz="1600"/>
          </a:p>
        </p:txBody>
      </p:sp>
      <p:sp>
        <p:nvSpPr>
          <p:cNvPr id="69" name="Google Shape;69;p6"/>
          <p:cNvSpPr/>
          <p:nvPr/>
        </p:nvSpPr>
        <p:spPr>
          <a:xfrm>
            <a:off x="4334255" y="1600200"/>
            <a:ext cx="3520500" cy="722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4480559" y="1600200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FR-2</a:t>
            </a:r>
            <a:endParaRPr/>
          </a:p>
        </p:txBody>
      </p:sp>
      <p:sp>
        <p:nvSpPr>
          <p:cNvPr id="71" name="Google Shape;71;p6"/>
          <p:cNvSpPr txBox="1"/>
          <p:nvPr/>
        </p:nvSpPr>
        <p:spPr>
          <a:xfrm>
            <a:off x="5047488" y="1655064"/>
            <a:ext cx="266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Multi-Language Parsing &amp; Metrics</a:t>
            </a:r>
            <a:endParaRPr sz="1600"/>
          </a:p>
        </p:txBody>
      </p:sp>
      <p:sp>
        <p:nvSpPr>
          <p:cNvPr id="72" name="Google Shape;72;p6"/>
          <p:cNvSpPr/>
          <p:nvPr/>
        </p:nvSpPr>
        <p:spPr>
          <a:xfrm>
            <a:off x="8119871" y="1600200"/>
            <a:ext cx="3520500" cy="722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8266175" y="1600200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FR-3</a:t>
            </a:r>
            <a:endParaRPr/>
          </a:p>
        </p:txBody>
      </p:sp>
      <p:sp>
        <p:nvSpPr>
          <p:cNvPr id="74" name="Google Shape;74;p6"/>
          <p:cNvSpPr txBox="1"/>
          <p:nvPr/>
        </p:nvSpPr>
        <p:spPr>
          <a:xfrm>
            <a:off x="8833103" y="1655064"/>
            <a:ext cx="266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3-Tier Graph Visualization</a:t>
            </a:r>
            <a:endParaRPr sz="1600"/>
          </a:p>
        </p:txBody>
      </p:sp>
      <p:sp>
        <p:nvSpPr>
          <p:cNvPr id="75" name="Google Shape;75;p6"/>
          <p:cNvSpPr/>
          <p:nvPr/>
        </p:nvSpPr>
        <p:spPr>
          <a:xfrm>
            <a:off x="548640" y="2468880"/>
            <a:ext cx="3520500" cy="722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694944" y="2468880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FR-4</a:t>
            </a: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1261872" y="2523744"/>
            <a:ext cx="266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sz="1600"/>
          </a:p>
        </p:txBody>
      </p:sp>
      <p:sp>
        <p:nvSpPr>
          <p:cNvPr id="78" name="Google Shape;78;p6"/>
          <p:cNvSpPr/>
          <p:nvPr/>
        </p:nvSpPr>
        <p:spPr>
          <a:xfrm>
            <a:off x="4334255" y="2468880"/>
            <a:ext cx="3520500" cy="722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4480559" y="2468880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FR-5</a:t>
            </a:r>
            <a:endParaRPr/>
          </a:p>
        </p:txBody>
      </p:sp>
      <p:sp>
        <p:nvSpPr>
          <p:cNvPr id="80" name="Google Shape;80;p6"/>
          <p:cNvSpPr txBox="1"/>
          <p:nvPr/>
        </p:nvSpPr>
        <p:spPr>
          <a:xfrm>
            <a:off x="5047488" y="2523744"/>
            <a:ext cx="266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Architecture Pattern Detection</a:t>
            </a:r>
            <a:endParaRPr sz="1600"/>
          </a:p>
        </p:txBody>
      </p:sp>
      <p:sp>
        <p:nvSpPr>
          <p:cNvPr id="81" name="Google Shape;81;p6"/>
          <p:cNvSpPr/>
          <p:nvPr/>
        </p:nvSpPr>
        <p:spPr>
          <a:xfrm>
            <a:off x="8119871" y="2468880"/>
            <a:ext cx="3520500" cy="722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8266175" y="2468880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FR-6</a:t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8833103" y="2523744"/>
            <a:ext cx="266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Layer Violation Analysis</a:t>
            </a:r>
            <a:endParaRPr sz="1600"/>
          </a:p>
        </p:txBody>
      </p:sp>
      <p:sp>
        <p:nvSpPr>
          <p:cNvPr id="84" name="Google Shape;84;p6"/>
          <p:cNvSpPr/>
          <p:nvPr/>
        </p:nvSpPr>
        <p:spPr>
          <a:xfrm>
            <a:off x="548640" y="3337560"/>
            <a:ext cx="3520500" cy="722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694944" y="3337560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FR-7</a:t>
            </a:r>
            <a:endParaRPr/>
          </a:p>
        </p:txBody>
      </p:sp>
      <p:sp>
        <p:nvSpPr>
          <p:cNvPr id="86" name="Google Shape;86;p6"/>
          <p:cNvSpPr txBox="1"/>
          <p:nvPr/>
        </p:nvSpPr>
        <p:spPr>
          <a:xfrm>
            <a:off x="1261872" y="3392424"/>
            <a:ext cx="266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Code Smell Analysis &amp; AI Refactor Plan</a:t>
            </a:r>
            <a:endParaRPr sz="1600"/>
          </a:p>
        </p:txBody>
      </p:sp>
      <p:sp>
        <p:nvSpPr>
          <p:cNvPr id="87" name="Google Shape;87;p6"/>
          <p:cNvSpPr/>
          <p:nvPr/>
        </p:nvSpPr>
        <p:spPr>
          <a:xfrm>
            <a:off x="4334255" y="3337560"/>
            <a:ext cx="3520500" cy="722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4480559" y="3337560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FR-8</a:t>
            </a:r>
            <a:endParaRPr/>
          </a:p>
        </p:txBody>
      </p:sp>
      <p:sp>
        <p:nvSpPr>
          <p:cNvPr id="89" name="Google Shape;89;p6"/>
          <p:cNvSpPr txBox="1"/>
          <p:nvPr/>
        </p:nvSpPr>
        <p:spPr>
          <a:xfrm>
            <a:off x="5047488" y="3392424"/>
            <a:ext cx="266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Change Impact Analysis</a:t>
            </a:r>
            <a:endParaRPr sz="1600"/>
          </a:p>
        </p:txBody>
      </p:sp>
      <p:sp>
        <p:nvSpPr>
          <p:cNvPr id="90" name="Google Shape;90;p6"/>
          <p:cNvSpPr/>
          <p:nvPr/>
        </p:nvSpPr>
        <p:spPr>
          <a:xfrm>
            <a:off x="8119871" y="3337560"/>
            <a:ext cx="3520500" cy="722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8266175" y="3337560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FR-9</a:t>
            </a:r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8833103" y="3392424"/>
            <a:ext cx="266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Dependency Risk Scoring</a:t>
            </a:r>
            <a:endParaRPr sz="1600"/>
          </a:p>
        </p:txBody>
      </p:sp>
      <p:sp>
        <p:nvSpPr>
          <p:cNvPr id="93" name="Google Shape;93;p6"/>
          <p:cNvSpPr/>
          <p:nvPr/>
        </p:nvSpPr>
        <p:spPr>
          <a:xfrm>
            <a:off x="548640" y="4206240"/>
            <a:ext cx="3520500" cy="722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694944" y="4206240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FR-10</a:t>
            </a:r>
            <a:endParaRPr/>
          </a:p>
        </p:txBody>
      </p:sp>
      <p:sp>
        <p:nvSpPr>
          <p:cNvPr id="95" name="Google Shape;95;p6"/>
          <p:cNvSpPr txBox="1"/>
          <p:nvPr/>
        </p:nvSpPr>
        <p:spPr>
          <a:xfrm>
            <a:off x="1261872" y="4261103"/>
            <a:ext cx="266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Dead Code Detection</a:t>
            </a:r>
            <a:endParaRPr sz="1600"/>
          </a:p>
        </p:txBody>
      </p:sp>
      <p:sp>
        <p:nvSpPr>
          <p:cNvPr id="96" name="Google Shape;96;p6"/>
          <p:cNvSpPr/>
          <p:nvPr/>
        </p:nvSpPr>
        <p:spPr>
          <a:xfrm>
            <a:off x="4334255" y="4206240"/>
            <a:ext cx="3520500" cy="722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4480559" y="4206240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FR-11</a:t>
            </a:r>
            <a:endParaRPr/>
          </a:p>
        </p:txBody>
      </p:sp>
      <p:sp>
        <p:nvSpPr>
          <p:cNvPr id="98" name="Google Shape;98;p6"/>
          <p:cNvSpPr txBox="1"/>
          <p:nvPr/>
        </p:nvSpPr>
        <p:spPr>
          <a:xfrm>
            <a:off x="5047488" y="4261103"/>
            <a:ext cx="266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Code Metrics Dashboard</a:t>
            </a:r>
            <a:endParaRPr sz="1600"/>
          </a:p>
        </p:txBody>
      </p:sp>
      <p:sp>
        <p:nvSpPr>
          <p:cNvPr id="99" name="Google Shape;99;p6"/>
          <p:cNvSpPr/>
          <p:nvPr/>
        </p:nvSpPr>
        <p:spPr>
          <a:xfrm>
            <a:off x="8119871" y="4206240"/>
            <a:ext cx="3520500" cy="722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8266175" y="4206240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FR-12</a:t>
            </a:r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8833103" y="4261103"/>
            <a:ext cx="266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Git History &amp; Evolution Tracking</a:t>
            </a:r>
            <a:endParaRPr sz="1600"/>
          </a:p>
        </p:txBody>
      </p:sp>
      <p:sp>
        <p:nvSpPr>
          <p:cNvPr id="102" name="Google Shape;102;p6"/>
          <p:cNvSpPr/>
          <p:nvPr/>
        </p:nvSpPr>
        <p:spPr>
          <a:xfrm>
            <a:off x="548640" y="5074920"/>
            <a:ext cx="3520500" cy="722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694944" y="5074920"/>
            <a:ext cx="567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FR-13</a:t>
            </a:r>
            <a:endParaRPr/>
          </a:p>
        </p:txBody>
      </p:sp>
      <p:sp>
        <p:nvSpPr>
          <p:cNvPr id="104" name="Google Shape;104;p6"/>
          <p:cNvSpPr txBox="1"/>
          <p:nvPr/>
        </p:nvSpPr>
        <p:spPr>
          <a:xfrm>
            <a:off x="1261872" y="5129783"/>
            <a:ext cx="266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Session Management</a:t>
            </a:r>
            <a:endParaRPr sz="1600"/>
          </a:p>
        </p:txBody>
      </p:sp>
      <p:sp>
        <p:nvSpPr>
          <p:cNvPr id="105" name="Google Shape;105;p6"/>
          <p:cNvSpPr txBox="1"/>
          <p:nvPr/>
        </p:nvSpPr>
        <p:spPr>
          <a:xfrm>
            <a:off x="914400" y="5989320"/>
            <a:ext cx="10360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13 functional requirements from the SRS — each covered by a live feature later in this deck.</a:t>
            </a:r>
            <a:endParaRPr/>
          </a:p>
        </p:txBody>
      </p:sp>
      <p:sp>
        <p:nvSpPr>
          <p:cNvPr id="106" name="Google Shape;106;p6"/>
          <p:cNvSpPr txBox="1"/>
          <p:nvPr/>
        </p:nvSpPr>
        <p:spPr>
          <a:xfrm>
            <a:off x="11521450" y="6415624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11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6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822960" y="2651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AF6"/>
              </a:buClr>
              <a:buSzPts val="1400"/>
              <a:buFont typeface="Arial"/>
              <a:buNone/>
            </a:pPr>
            <a:r>
              <a:rPr b="1" lang="en-US" sz="1700">
                <a:solidFill>
                  <a:srgbClr val="7C6AF6"/>
                </a:solidFill>
                <a:latin typeface="Arial"/>
                <a:ea typeface="Arial"/>
                <a:cs typeface="Arial"/>
                <a:sym typeface="Arial"/>
              </a:rPr>
              <a:t>SECTION 1 OF 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77240" y="297180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lang="en-US" sz="4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&amp; Data Modeling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822960" y="3977640"/>
            <a:ext cx="1005840" cy="45720"/>
          </a:xfrm>
          <a:prstGeom prst="rect">
            <a:avLst/>
          </a:prstGeom>
          <a:solidFill>
            <a:srgbClr val="7C6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6DA"/>
              </a:buClr>
              <a:buSzPts val="1600"/>
              <a:buFont typeface="Arial"/>
              <a:buNone/>
            </a:pPr>
            <a:r>
              <a:rPr lang="en-US" sz="1900">
                <a:solidFill>
                  <a:srgbClr val="C9C6DA"/>
                </a:solidFill>
                <a:latin typeface="Arial"/>
                <a:ea typeface="Arial"/>
                <a:cs typeface="Arial"/>
                <a:sym typeface="Arial"/>
              </a:rPr>
              <a:t>Use case, activity, and entity-relationship diagrams from the SRS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chemeClr val="lt1"/>
                </a:solidFill>
              </a:rPr>
              <a:t>05</a:t>
            </a:r>
            <a:endParaRPr b="1"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567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SYSTEM MODELING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Use Case Diagram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48650" y="1077350"/>
            <a:ext cx="3012600" cy="22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300"/>
              <a:buFont typeface="Arial"/>
              <a:buNone/>
            </a:pPr>
            <a:r>
              <a:rPr i="1" lang="en-US" sz="16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14 use cases spanning Developer, Architect, Tech Lead, and Administrator roles.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06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  <p:pic>
        <p:nvPicPr>
          <p:cNvPr id="127" name="Google Shape;12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2525" y="0"/>
            <a:ext cx="4699380" cy="672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SYSTEM MODELING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312000" y="3521675"/>
            <a:ext cx="2572500" cy="2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300"/>
              <a:buFont typeface="Arial"/>
              <a:buNone/>
            </a:pPr>
            <a:r>
              <a:rPr i="1" lang="en-US" sz="16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From session creation through upload, analysis, and automatic session expiry.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07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548643" y="603486"/>
            <a:ext cx="37725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Activity Diagram — System Operational </a:t>
            </a:r>
            <a:r>
              <a:rPr b="1" lang="en-US" sz="2900">
                <a:solidFill>
                  <a:srgbClr val="1A1A2E"/>
                </a:solidFill>
              </a:rPr>
              <a:t>Life Cycle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1125" y="166200"/>
            <a:ext cx="7323400" cy="61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/>
          <p:nvPr/>
        </p:nvSpPr>
        <p:spPr>
          <a:xfrm>
            <a:off x="548646" y="347475"/>
            <a:ext cx="547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SYSTEM MODELING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548652" y="603501"/>
            <a:ext cx="3712200" cy="16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Activity Diagram — Code Smell Detection Flow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749128" y="2779452"/>
            <a:ext cx="2633400" cy="20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300"/>
              <a:buFont typeface="Arial"/>
              <a:buNone/>
            </a:pPr>
            <a:r>
              <a:rPr i="1" lang="en-US" sz="16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Parsing, rule-based smell detection, and AI-assisted refactor planning in sequence.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08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  <p:pic>
        <p:nvPicPr>
          <p:cNvPr id="147" name="Google Shape;14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2025" y="137900"/>
            <a:ext cx="5693575" cy="672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DATA MODELING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548650" y="603500"/>
            <a:ext cx="39633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Entity- Relationship Diagram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09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  <p:pic>
        <p:nvPicPr>
          <p:cNvPr id="156" name="Google Shape;15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1950" y="223275"/>
            <a:ext cx="6786399" cy="649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548640" y="347472"/>
            <a:ext cx="914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AI ENGINEERING</a:t>
            </a:r>
            <a:endParaRPr/>
          </a:p>
        </p:txBody>
      </p:sp>
      <p:sp>
        <p:nvSpPr>
          <p:cNvPr id="163" name="Google Shape;163;p12"/>
          <p:cNvSpPr txBox="1"/>
          <p:nvPr/>
        </p:nvSpPr>
        <p:spPr>
          <a:xfrm>
            <a:off x="548640" y="603504"/>
            <a:ext cx="110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AI Refactor Plan — Engineering Pipeline</a:t>
            </a:r>
            <a:endParaRPr/>
          </a:p>
        </p:txBody>
      </p:sp>
      <p:sp>
        <p:nvSpPr>
          <p:cNvPr id="164" name="Google Shape;164;p12"/>
          <p:cNvSpPr txBox="1"/>
          <p:nvPr/>
        </p:nvSpPr>
        <p:spPr>
          <a:xfrm>
            <a:off x="914400" y="6327648"/>
            <a:ext cx="10360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Static analysis runs first and always produces a plan; the LLM is invoked only on request, to add architectural judgment.</a:t>
            </a:r>
            <a:endParaRPr/>
          </a:p>
        </p:txBody>
      </p:sp>
      <p:pic>
        <p:nvPicPr>
          <p:cNvPr id="165" name="Google Shape;1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741" y="1756849"/>
            <a:ext cx="10903709" cy="38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2"/>
          <p:cNvSpPr/>
          <p:nvPr/>
        </p:nvSpPr>
        <p:spPr>
          <a:xfrm>
            <a:off x="11521440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1</a:t>
            </a:r>
            <a:r>
              <a:rPr b="1" lang="en-US" sz="1900">
                <a:solidFill>
                  <a:schemeClr val="dk1"/>
                </a:solidFill>
              </a:rPr>
              <a:t>0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567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5A567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11C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6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822960" y="2651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AF6"/>
              </a:buClr>
              <a:buSzPts val="1400"/>
              <a:buFont typeface="Arial"/>
              <a:buNone/>
            </a:pPr>
            <a:r>
              <a:rPr b="1" lang="en-US" sz="1500">
                <a:solidFill>
                  <a:srgbClr val="7C6AF6"/>
                </a:solidFill>
                <a:latin typeface="Arial"/>
                <a:ea typeface="Arial"/>
                <a:cs typeface="Arial"/>
                <a:sym typeface="Arial"/>
              </a:rPr>
              <a:t>SECTION 2 OF 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777240" y="297180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lang="en-US" sz="4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System Walkthrough</a:t>
            </a:r>
            <a:endParaRPr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822960" y="3977640"/>
            <a:ext cx="1005840" cy="45720"/>
          </a:xfrm>
          <a:prstGeom prst="rect">
            <a:avLst/>
          </a:prstGeom>
          <a:solidFill>
            <a:srgbClr val="7C6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6DA"/>
              </a:buClr>
              <a:buSzPts val="1600"/>
              <a:buFont typeface="Arial"/>
              <a:buNone/>
            </a:pPr>
            <a:r>
              <a:rPr lang="en-US" sz="1700">
                <a:solidFill>
                  <a:srgbClr val="C9C6DA"/>
                </a:solidFill>
                <a:latin typeface="Arial"/>
                <a:ea typeface="Arial"/>
                <a:cs typeface="Arial"/>
                <a:sym typeface="Arial"/>
              </a:rPr>
              <a:t>Screenshots of every working feature in the running application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chemeClr val="lt1"/>
                </a:solidFill>
              </a:rPr>
              <a:t>11</a:t>
            </a:r>
            <a:endParaRPr b="1"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567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5A567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LIVE SYSTEM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3-Tier Graph Visualization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/images/Screenshot_2026-07-31_180835.png" id="185" name="Google Shape;1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0" y="1711950"/>
            <a:ext cx="12131101" cy="328485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38100">
              <a:srgbClr val="1A1A2E">
                <a:alpha val="18039"/>
              </a:srgbClr>
            </a:outerShdw>
          </a:effectLst>
        </p:spPr>
      </p:pic>
      <p:sp>
        <p:nvSpPr>
          <p:cNvPr id="186" name="Google Shape;186;p14"/>
          <p:cNvSpPr/>
          <p:nvPr/>
        </p:nvSpPr>
        <p:spPr>
          <a:xfrm>
            <a:off x="1099750" y="5410111"/>
            <a:ext cx="103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300"/>
              <a:buFont typeface="Arial"/>
              <a:buNone/>
            </a:pPr>
            <a:r>
              <a:rPr i="1" lang="en-US" sz="16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Click-to-drill-down navigation from modules, into files, into individual function call graphs.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12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4381509" y="1326553"/>
            <a:ext cx="3429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Tier 1 — Module graph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/>
          <p:nvPr/>
        </p:nvSpPr>
        <p:spPr>
          <a:xfrm>
            <a:off x="548640" y="347472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LIVE SYSTEM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548640" y="603504"/>
            <a:ext cx="1106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3-Tier Graph Visualization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/images/Screenshot_2026-07-31_172325.png" id="196" name="Google Shape;1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851" y="1285875"/>
            <a:ext cx="9923124" cy="4784525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38100">
              <a:srgbClr val="1A1A2E">
                <a:alpha val="18040"/>
              </a:srgbClr>
            </a:outerShdw>
          </a:effectLst>
        </p:spPr>
      </p:pic>
      <p:sp>
        <p:nvSpPr>
          <p:cNvPr id="197" name="Google Shape;197;p15"/>
          <p:cNvSpPr/>
          <p:nvPr/>
        </p:nvSpPr>
        <p:spPr>
          <a:xfrm>
            <a:off x="914400" y="6070411"/>
            <a:ext cx="103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300"/>
              <a:buFont typeface="Arial"/>
              <a:buNone/>
            </a:pPr>
            <a:r>
              <a:rPr i="1" lang="en-US" sz="16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Click-to-drill-down navigation from modules, into files, into individual function call graphs.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11521440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13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668027" y="1430231"/>
            <a:ext cx="3429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Tier 2 — File graph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ptx_proj/images/Screenshot_2026-07-31_172633.png" id="205" name="Google Shape;2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7400" y="1089750"/>
            <a:ext cx="9143999" cy="5356771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38100">
              <a:srgbClr val="1A1A2E">
                <a:alpha val="18040"/>
              </a:srgbClr>
            </a:outerShdw>
          </a:effectLst>
        </p:spPr>
      </p:pic>
      <p:sp>
        <p:nvSpPr>
          <p:cNvPr id="206" name="Google Shape;206;p16"/>
          <p:cNvSpPr/>
          <p:nvPr/>
        </p:nvSpPr>
        <p:spPr>
          <a:xfrm>
            <a:off x="548640" y="347472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LIVE SYSTEM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548640" y="603504"/>
            <a:ext cx="1106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3-Tier Graph Visualization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7989725" y="1251050"/>
            <a:ext cx="25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Tier 3 — Function graph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914400" y="6070411"/>
            <a:ext cx="103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300"/>
              <a:buFont typeface="Arial"/>
              <a:buNone/>
            </a:pPr>
            <a:r>
              <a:rPr i="1" lang="en-US" sz="16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Click-to-drill-down navigation from modules, into files, into individual function call graphs.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11521440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14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ptx_proj/images/godchunk_complexity.png" id="216" name="Google Shape;216;p17"/>
          <p:cNvPicPr preferRelativeResize="0"/>
          <p:nvPr/>
        </p:nvPicPr>
        <p:blipFill rotWithShape="1">
          <a:blip r:embed="rId3">
            <a:alphaModFix/>
          </a:blip>
          <a:srcRect b="13510" l="0" r="0" t="0"/>
          <a:stretch/>
        </p:blipFill>
        <p:spPr>
          <a:xfrm>
            <a:off x="1759075" y="1152150"/>
            <a:ext cx="8935740" cy="4928787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38100">
              <a:srgbClr val="1A1A2E">
                <a:alpha val="18039"/>
              </a:srgbClr>
            </a:outerShdw>
          </a:effectLst>
        </p:spPr>
      </p:pic>
      <p:sp>
        <p:nvSpPr>
          <p:cNvPr id="217" name="Google Shape;217;p17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LIVE SYSTEM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God-File Chunking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4326046" y="1207102"/>
            <a:ext cx="521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50"/>
              <a:buFont typeface="Arial"/>
              <a:buNone/>
            </a:pPr>
            <a:r>
              <a:rPr b="1" lang="en-US" sz="145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Complexity-based virtual modules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300"/>
              <a:buFont typeface="Arial"/>
              <a:buNone/>
            </a:pPr>
            <a:r>
              <a:rPr i="1" lang="en-US" sz="16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A large file is split into virtual modules by complexity, with each chunk still drilling down to its own functions.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15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/>
          <p:nvPr/>
        </p:nvSpPr>
        <p:spPr>
          <a:xfrm>
            <a:off x="548640" y="347472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LIVE SYSTEM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548640" y="603504"/>
            <a:ext cx="1106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God-File Chunking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6323076" y="1216152"/>
            <a:ext cx="521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50"/>
              <a:buFont typeface="Arial"/>
              <a:buNone/>
            </a:pPr>
            <a:r>
              <a:rPr b="1" lang="en-US" sz="145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Chunk-level function view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/images/godchunk_functions.png" id="230" name="Google Shape;2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98500"/>
            <a:ext cx="12192000" cy="4081684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38100">
              <a:srgbClr val="1A1A2E">
                <a:alpha val="18040"/>
              </a:srgbClr>
            </a:outerShdw>
          </a:effectLst>
        </p:spPr>
      </p:pic>
      <p:sp>
        <p:nvSpPr>
          <p:cNvPr id="231" name="Google Shape;231;p18"/>
          <p:cNvSpPr/>
          <p:nvPr/>
        </p:nvSpPr>
        <p:spPr>
          <a:xfrm>
            <a:off x="914400" y="6126480"/>
            <a:ext cx="103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300"/>
              <a:buFont typeface="Arial"/>
              <a:buNone/>
            </a:pPr>
            <a:r>
              <a:rPr i="1" lang="en-US" sz="16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A large file is split into virtual modules by complexity, with each chunk still drilling down to its own functions.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11521440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16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"/>
          <p:cNvSpPr/>
          <p:nvPr/>
        </p:nvSpPr>
        <p:spPr>
          <a:xfrm>
            <a:off x="548644" y="347475"/>
            <a:ext cx="352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LIVE SYSTEM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548650" y="603477"/>
            <a:ext cx="3688500" cy="15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Code Metrics Dashboard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/images/Screenshot_2026-07-31_172852.png" id="240" name="Google Shape;2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6603" y="0"/>
            <a:ext cx="6487673" cy="6857999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38100">
              <a:srgbClr val="1A1A2E">
                <a:alpha val="18039"/>
              </a:srgbClr>
            </a:outerShdw>
          </a:effectLst>
        </p:spPr>
      </p:pic>
      <p:sp>
        <p:nvSpPr>
          <p:cNvPr id="241" name="Google Shape;241;p19"/>
          <p:cNvSpPr/>
          <p:nvPr/>
        </p:nvSpPr>
        <p:spPr>
          <a:xfrm>
            <a:off x="609293" y="2025925"/>
            <a:ext cx="3980100" cy="29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300"/>
              <a:buFont typeface="Arial"/>
              <a:buNone/>
            </a:pPr>
            <a:r>
              <a:rPr i="1" lang="en-US" sz="16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LOC, cyclomatic complexity, Halstead metrics, and Maintainability Index computed per project.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17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LIVE SYSTEM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914400" y="6126480"/>
            <a:ext cx="10360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300"/>
              <a:buFont typeface="Arial"/>
              <a:buNone/>
            </a:pPr>
            <a:r>
              <a:rPr i="1" lang="en-US" sz="16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Reverse call graph traversal (BFS) shows every function, file, and module a change will ripple into.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18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/images/Screenshot_2026-07-31_173101.png" id="251" name="Google Shape;2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6000" y="245600"/>
            <a:ext cx="8731276" cy="580150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38100">
              <a:srgbClr val="1A1A2E">
                <a:alpha val="18039"/>
              </a:srgbClr>
            </a:outerShdw>
          </a:effectLst>
        </p:spPr>
      </p:pic>
      <p:sp>
        <p:nvSpPr>
          <p:cNvPr id="252" name="Google Shape;252;p20"/>
          <p:cNvSpPr/>
          <p:nvPr/>
        </p:nvSpPr>
        <p:spPr>
          <a:xfrm>
            <a:off x="548643" y="603490"/>
            <a:ext cx="3529200" cy="19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Change Impact Analysis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LIVE SYSTEM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548650" y="603499"/>
            <a:ext cx="447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Dependency Risk Scoring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/images/Screenshot_2026-07-31_173201.png" id="260" name="Google Shape;26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5206" y="54140"/>
            <a:ext cx="6223259" cy="6749725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38100">
              <a:srgbClr val="1A1A2E">
                <a:alpha val="18039"/>
              </a:srgbClr>
            </a:outerShdw>
          </a:effectLst>
        </p:spPr>
      </p:pic>
      <p:sp>
        <p:nvSpPr>
          <p:cNvPr id="261" name="Google Shape;261;p21"/>
          <p:cNvSpPr/>
          <p:nvPr/>
        </p:nvSpPr>
        <p:spPr>
          <a:xfrm>
            <a:off x="636825" y="2134103"/>
            <a:ext cx="3735000" cy="16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300"/>
              <a:buFont typeface="Arial"/>
              <a:buNone/>
            </a:pPr>
            <a:r>
              <a:rPr i="1" lang="en-US" sz="16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Functions ranked High / Medium / Low / None risk based on fan-in (number of callers).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19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3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LIVE SYSTEM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548650" y="603499"/>
            <a:ext cx="66570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7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Code Smell Analysis</a:t>
            </a:r>
            <a:r>
              <a:rPr b="1" lang="en-US" sz="2700">
                <a:solidFill>
                  <a:srgbClr val="1A1A2E"/>
                </a:solidFill>
              </a:rPr>
              <a:t>-</a:t>
            </a:r>
            <a:r>
              <a:rPr b="1" lang="en-US" sz="27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 Detection &amp; Prioritization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/images/Screenshot_2026-07-31_175442.png" id="270" name="Google Shape;2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100" y="1804650"/>
            <a:ext cx="5036799" cy="496235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38100">
              <a:srgbClr val="1A1A2E">
                <a:alpha val="18039"/>
              </a:srgbClr>
            </a:outerShdw>
          </a:effectLst>
        </p:spPr>
      </p:pic>
      <p:pic>
        <p:nvPicPr>
          <p:cNvPr descr="/home/claude/pptx_proj/images/Screenshot_2026-07-31_175823.png" id="271" name="Google Shape;27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8385" y="47113"/>
            <a:ext cx="4741414" cy="6763774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38100">
              <a:srgbClr val="1A1A2E">
                <a:alpha val="18039"/>
              </a:srgbClr>
            </a:outerShdw>
          </a:effectLst>
        </p:spPr>
      </p:pic>
      <p:sp>
        <p:nvSpPr>
          <p:cNvPr id="272" name="Google Shape;272;p2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20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LIVE SYSTEM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48650" y="603500"/>
            <a:ext cx="58227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Code Smell Analysis — Layers &amp; Root Cause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834171" y="2022052"/>
            <a:ext cx="521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50"/>
              <a:buFont typeface="Arial"/>
              <a:buNone/>
            </a:pPr>
            <a:r>
              <a:rPr b="1" lang="en-US" sz="145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Smells by architectural layer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/images/Screenshot_2026-07-31_180003.png" id="281" name="Google Shape;2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6" y="2511575"/>
            <a:ext cx="5212080" cy="347472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38100">
              <a:srgbClr val="1A1A2E">
                <a:alpha val="18039"/>
              </a:srgbClr>
            </a:outerShdw>
          </a:effectLst>
        </p:spPr>
      </p:pic>
      <p:pic>
        <p:nvPicPr>
          <p:cNvPr descr="/home/claude/pptx_proj/images/Screenshot_2026-07-31_180046.png" id="282" name="Google Shape;28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2903" y="117400"/>
            <a:ext cx="5019975" cy="648575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38100">
              <a:srgbClr val="1A1A2E">
                <a:alpha val="18039"/>
              </a:srgbClr>
            </a:outerShdw>
          </a:effectLst>
        </p:spPr>
      </p:pic>
      <p:sp>
        <p:nvSpPr>
          <p:cNvPr id="283" name="Google Shape;283;p23"/>
          <p:cNvSpPr/>
          <p:nvPr/>
        </p:nvSpPr>
        <p:spPr>
          <a:xfrm>
            <a:off x="670450" y="5986300"/>
            <a:ext cx="55791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300"/>
              <a:buFont typeface="Arial"/>
              <a:buNone/>
            </a:pPr>
            <a:r>
              <a:rPr i="1" lang="en-US" sz="15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Root-cause ranking traces how fixing one smell resolves several downstream ones.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21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>
            <a:off x="563878" y="461422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LIVE SYSTEM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657102" y="966309"/>
            <a:ext cx="4377600" cy="11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AI-Powered Refactor Plan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/images/Screenshot_2026-07-31_180204.png" id="292" name="Google Shape;2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0433" y="0"/>
            <a:ext cx="5479542" cy="6857999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38100">
              <a:srgbClr val="1A1A2E">
                <a:alpha val="18039"/>
              </a:srgbClr>
            </a:outerShdw>
          </a:effectLst>
        </p:spPr>
      </p:pic>
      <p:sp>
        <p:nvSpPr>
          <p:cNvPr id="293" name="Google Shape;293;p24"/>
          <p:cNvSpPr/>
          <p:nvPr/>
        </p:nvSpPr>
        <p:spPr>
          <a:xfrm>
            <a:off x="657088" y="2605498"/>
            <a:ext cx="41829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300"/>
              <a:buFont typeface="Arial"/>
              <a:buNone/>
            </a:pPr>
            <a:r>
              <a:rPr i="1" lang="en-US" sz="16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Groq LLM (llama-3.3-70b) turns the smell summary into a prioritized, risk-assessed refactor plan.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22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LIVE SYSTEM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548645" y="603493"/>
            <a:ext cx="54081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Dead Code &amp; Unused Import Detection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/images/Screenshot_2026-07-31_180259.png" id="302" name="Google Shape;30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2750" y="0"/>
            <a:ext cx="5500126" cy="685800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5400000" dist="38100">
              <a:srgbClr val="1A1A2E">
                <a:alpha val="18039"/>
              </a:srgbClr>
            </a:outerShdw>
          </a:effectLst>
        </p:spPr>
      </p:pic>
      <p:sp>
        <p:nvSpPr>
          <p:cNvPr id="303" name="Google Shape;303;p25"/>
          <p:cNvSpPr/>
          <p:nvPr/>
        </p:nvSpPr>
        <p:spPr>
          <a:xfrm>
            <a:off x="1214800" y="2448825"/>
            <a:ext cx="3757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300"/>
              <a:buFont typeface="Arial"/>
              <a:buNone/>
            </a:pPr>
            <a:r>
              <a:rPr i="1" lang="en-US" sz="16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Unreachable functions flagged by confidence tier; unused imports listed per file.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23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LIVE SYSTEM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Layer Violation Detection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831525" y="5564570"/>
            <a:ext cx="103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300"/>
              <a:buFont typeface="Arial"/>
              <a:buNone/>
            </a:pPr>
            <a:r>
              <a:rPr i="1" lang="en-US" sz="16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Validates that calls flow Controller → Service → Repository → Model, reporting violations by severity.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24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  <p:pic>
        <p:nvPicPr>
          <p:cNvPr id="314" name="Google Shape;3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3549" y="1464050"/>
            <a:ext cx="7462427" cy="3689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11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6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7"/>
          <p:cNvSpPr/>
          <p:nvPr/>
        </p:nvSpPr>
        <p:spPr>
          <a:xfrm>
            <a:off x="822960" y="2651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AF6"/>
              </a:buClr>
              <a:buSzPts val="1400"/>
              <a:buFont typeface="Arial"/>
              <a:buNone/>
            </a:pPr>
            <a:r>
              <a:rPr b="1" lang="en-US" sz="1700">
                <a:solidFill>
                  <a:srgbClr val="7C6AF6"/>
                </a:solidFill>
                <a:latin typeface="Arial"/>
                <a:ea typeface="Arial"/>
                <a:cs typeface="Arial"/>
                <a:sym typeface="Arial"/>
              </a:rPr>
              <a:t>SECTION 3 OF 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777240" y="297180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lang="en-US" sz="4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Status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822960" y="3977640"/>
            <a:ext cx="1005840" cy="45720"/>
          </a:xfrm>
          <a:prstGeom prst="rect">
            <a:avLst/>
          </a:prstGeom>
          <a:solidFill>
            <a:srgbClr val="7C6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7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6DA"/>
              </a:buClr>
              <a:buSzPts val="1600"/>
              <a:buFont typeface="Arial"/>
              <a:buNone/>
            </a:pPr>
            <a:r>
              <a:rPr lang="en-US" sz="1900">
                <a:solidFill>
                  <a:srgbClr val="C9C6DA"/>
                </a:solidFill>
                <a:latin typeface="Arial"/>
                <a:ea typeface="Arial"/>
                <a:cs typeface="Arial"/>
                <a:sym typeface="Arial"/>
              </a:rPr>
              <a:t>What's completed, in progress, and remaining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chemeClr val="lt1"/>
                </a:solidFill>
              </a:rPr>
              <a:t>25</a:t>
            </a:r>
            <a:endParaRPr b="1"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567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5A567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PROJECT STATUS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Completed Features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548640" y="1600200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EFFAF6"/>
          </a:solidFill>
          <a:ln cap="flat" cmpd="sng" w="9525">
            <a:solidFill>
              <a:srgbClr val="BFE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34" name="Google Shape;334;p28"/>
          <p:cNvSpPr/>
          <p:nvPr/>
        </p:nvSpPr>
        <p:spPr>
          <a:xfrm>
            <a:off x="685800" y="160020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E8F"/>
              </a:buClr>
              <a:buSzPts val="1800"/>
              <a:buFont typeface="Arial"/>
              <a:buNone/>
            </a:pPr>
            <a:r>
              <a:rPr b="1" lang="en-US" sz="2100">
                <a:solidFill>
                  <a:srgbClr val="1FAE8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1143000" y="160020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3-tier graph visualization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8"/>
          <p:cNvSpPr/>
          <p:nvPr/>
        </p:nvSpPr>
        <p:spPr>
          <a:xfrm>
            <a:off x="6355080" y="1600200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EFFAF6"/>
          </a:solidFill>
          <a:ln cap="flat" cmpd="sng" w="9525">
            <a:solidFill>
              <a:srgbClr val="BFE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37" name="Google Shape;337;p28"/>
          <p:cNvSpPr/>
          <p:nvPr/>
        </p:nvSpPr>
        <p:spPr>
          <a:xfrm>
            <a:off x="6492240" y="160020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E8F"/>
              </a:buClr>
              <a:buSzPts val="1800"/>
              <a:buFont typeface="Arial"/>
              <a:buNone/>
            </a:pPr>
            <a:r>
              <a:rPr b="1" lang="en-US" sz="2100">
                <a:solidFill>
                  <a:srgbClr val="1FAE8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8"/>
          <p:cNvSpPr/>
          <p:nvPr/>
        </p:nvSpPr>
        <p:spPr>
          <a:xfrm>
            <a:off x="6949440" y="160020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Code metrics dashboard &amp;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548640" y="2386584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EFFAF6"/>
          </a:solidFill>
          <a:ln cap="flat" cmpd="sng" w="9525">
            <a:solidFill>
              <a:srgbClr val="BFE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0" name="Google Shape;340;p28"/>
          <p:cNvSpPr/>
          <p:nvPr/>
        </p:nvSpPr>
        <p:spPr>
          <a:xfrm>
            <a:off x="685800" y="2386584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E8F"/>
              </a:buClr>
              <a:buSzPts val="1800"/>
              <a:buFont typeface="Arial"/>
              <a:buNone/>
            </a:pPr>
            <a:r>
              <a:rPr b="1" lang="en-US" sz="2100">
                <a:solidFill>
                  <a:srgbClr val="1FAE8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1143000" y="2386584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Change impact analysis of functions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6355080" y="2386584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EFFAF6"/>
          </a:solidFill>
          <a:ln cap="flat" cmpd="sng" w="9525">
            <a:solidFill>
              <a:srgbClr val="BFE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3" name="Google Shape;343;p28"/>
          <p:cNvSpPr/>
          <p:nvPr/>
        </p:nvSpPr>
        <p:spPr>
          <a:xfrm>
            <a:off x="6492240" y="2386584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E8F"/>
              </a:buClr>
              <a:buSzPts val="1800"/>
              <a:buFont typeface="Arial"/>
              <a:buNone/>
            </a:pPr>
            <a:r>
              <a:rPr b="1" lang="en-US" sz="2100">
                <a:solidFill>
                  <a:srgbClr val="1FAE8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6949440" y="2386584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Code smell detection + refactor plan (static &amp; LLM-based)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548640" y="3172968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EFFAF6"/>
          </a:solidFill>
          <a:ln cap="flat" cmpd="sng" w="9525">
            <a:solidFill>
              <a:srgbClr val="BFE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6" name="Google Shape;346;p28"/>
          <p:cNvSpPr/>
          <p:nvPr/>
        </p:nvSpPr>
        <p:spPr>
          <a:xfrm>
            <a:off x="685800" y="3172968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E8F"/>
              </a:buClr>
              <a:buSzPts val="1800"/>
              <a:buFont typeface="Arial"/>
              <a:buNone/>
            </a:pPr>
            <a:r>
              <a:rPr b="1" lang="en-US" sz="2100">
                <a:solidFill>
                  <a:srgbClr val="1FAE8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1143000" y="3172968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Unused function and unused import detection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6355080" y="3172968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EFFAF6"/>
          </a:solidFill>
          <a:ln cap="flat" cmpd="sng" w="9525">
            <a:solidFill>
              <a:srgbClr val="BFE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9" name="Google Shape;349;p28"/>
          <p:cNvSpPr/>
          <p:nvPr/>
        </p:nvSpPr>
        <p:spPr>
          <a:xfrm>
            <a:off x="6492240" y="3172968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E8F"/>
              </a:buClr>
              <a:buSzPts val="1800"/>
              <a:buFont typeface="Arial"/>
              <a:buNone/>
            </a:pPr>
            <a:r>
              <a:rPr b="1" lang="en-US" sz="2100">
                <a:solidFill>
                  <a:srgbClr val="1FAE8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6949440" y="3172968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Dependency risk score detection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548640" y="3959352"/>
            <a:ext cx="5349240" cy="640080"/>
          </a:xfrm>
          <a:prstGeom prst="roundRect">
            <a:avLst>
              <a:gd fmla="val 11429" name="adj"/>
            </a:avLst>
          </a:prstGeom>
          <a:solidFill>
            <a:srgbClr val="EFFAF6"/>
          </a:solidFill>
          <a:ln cap="flat" cmpd="sng" w="9525">
            <a:solidFill>
              <a:srgbClr val="BFE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52" name="Google Shape;352;p28"/>
          <p:cNvSpPr/>
          <p:nvPr/>
        </p:nvSpPr>
        <p:spPr>
          <a:xfrm>
            <a:off x="685800" y="3959352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E8F"/>
              </a:buClr>
              <a:buSzPts val="1800"/>
              <a:buFont typeface="Arial"/>
              <a:buNone/>
            </a:pPr>
            <a:r>
              <a:rPr b="1" lang="en-US" sz="2100">
                <a:solidFill>
                  <a:srgbClr val="1FAE8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1143000" y="3959352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Layer violation detection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11521440" y="64465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26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9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PROJECT STATUS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In Progress &amp; Remaining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548640" y="155448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300"/>
              <a:buFont typeface="Arial"/>
              <a:buNone/>
            </a:pPr>
            <a:r>
              <a:rPr b="1" lang="en-US" sz="1600">
                <a:solidFill>
                  <a:srgbClr val="D98324"/>
                </a:solidFill>
                <a:latin typeface="Arial"/>
                <a:ea typeface="Arial"/>
                <a:cs typeface="Arial"/>
                <a:sym typeface="Arial"/>
              </a:rPr>
              <a:t>IN PROGRESS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548640" y="2011680"/>
            <a:ext cx="5394960" cy="713232"/>
          </a:xfrm>
          <a:prstGeom prst="roundRect">
            <a:avLst>
              <a:gd fmla="val 10256" name="adj"/>
            </a:avLst>
          </a:prstGeom>
          <a:solidFill>
            <a:srgbClr val="FDF5EA"/>
          </a:solidFill>
          <a:ln cap="flat" cmpd="sng" w="9525">
            <a:solidFill>
              <a:srgbClr val="F3DD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64" name="Google Shape;364;p29"/>
          <p:cNvSpPr/>
          <p:nvPr/>
        </p:nvSpPr>
        <p:spPr>
          <a:xfrm>
            <a:off x="713232" y="2011680"/>
            <a:ext cx="3657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600"/>
              <a:buFont typeface="Arial"/>
              <a:buNone/>
            </a:pPr>
            <a:r>
              <a:rPr lang="en-US" sz="1900">
                <a:solidFill>
                  <a:srgbClr val="D98324"/>
                </a:solidFill>
                <a:latin typeface="Arial"/>
                <a:ea typeface="Arial"/>
                <a:cs typeface="Arial"/>
                <a:sym typeface="Arial"/>
              </a:rPr>
              <a:t>◐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1143000" y="2011680"/>
            <a:ext cx="4663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Git history and metrics tracking across commits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548640" y="2880360"/>
            <a:ext cx="5394960" cy="713232"/>
          </a:xfrm>
          <a:prstGeom prst="roundRect">
            <a:avLst>
              <a:gd fmla="val 10256" name="adj"/>
            </a:avLst>
          </a:prstGeom>
          <a:solidFill>
            <a:srgbClr val="FDF5EA"/>
          </a:solidFill>
          <a:ln cap="flat" cmpd="sng" w="9525">
            <a:solidFill>
              <a:srgbClr val="F3DD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67" name="Google Shape;367;p29"/>
          <p:cNvSpPr/>
          <p:nvPr/>
        </p:nvSpPr>
        <p:spPr>
          <a:xfrm>
            <a:off x="713232" y="2880360"/>
            <a:ext cx="3657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324"/>
              </a:buClr>
              <a:buSzPts val="1600"/>
              <a:buFont typeface="Arial"/>
              <a:buNone/>
            </a:pPr>
            <a:r>
              <a:rPr lang="en-US" sz="1900">
                <a:solidFill>
                  <a:srgbClr val="D98324"/>
                </a:solidFill>
                <a:latin typeface="Arial"/>
                <a:ea typeface="Arial"/>
                <a:cs typeface="Arial"/>
                <a:sym typeface="Arial"/>
              </a:rPr>
              <a:t>◐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1143000" y="2880360"/>
            <a:ext cx="4663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Architecture pattern detection refinement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6263640" y="155448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503B"/>
              </a:buClr>
              <a:buSzPts val="1300"/>
              <a:buFont typeface="Arial"/>
              <a:buNone/>
            </a:pPr>
            <a:r>
              <a:rPr b="1" lang="en-US" sz="1600">
                <a:solidFill>
                  <a:srgbClr val="D8503B"/>
                </a:solidFill>
                <a:latin typeface="Arial"/>
                <a:ea typeface="Arial"/>
                <a:cs typeface="Arial"/>
                <a:sym typeface="Arial"/>
              </a:rPr>
              <a:t>REMAINING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6263640" y="2011680"/>
            <a:ext cx="5394960" cy="713232"/>
          </a:xfrm>
          <a:prstGeom prst="roundRect">
            <a:avLst>
              <a:gd fmla="val 10256" name="adj"/>
            </a:avLst>
          </a:prstGeom>
          <a:solidFill>
            <a:srgbClr val="FCEFEC"/>
          </a:solidFill>
          <a:ln cap="flat" cmpd="sng" w="9525">
            <a:solidFill>
              <a:srgbClr val="F2C7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71" name="Google Shape;371;p29"/>
          <p:cNvSpPr/>
          <p:nvPr/>
        </p:nvSpPr>
        <p:spPr>
          <a:xfrm>
            <a:off x="6428232" y="2011680"/>
            <a:ext cx="3657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503B"/>
              </a:buClr>
              <a:buSzPts val="1600"/>
              <a:buFont typeface="Arial"/>
              <a:buNone/>
            </a:pPr>
            <a:r>
              <a:rPr lang="en-US" sz="1900">
                <a:solidFill>
                  <a:srgbClr val="D8503B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6858000" y="2011680"/>
            <a:ext cx="4663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Arial"/>
              <a:buNone/>
            </a:pPr>
            <a:r>
              <a:rPr lang="en-US" sz="16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Design pattern detection (GoF patterns)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27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11C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6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0"/>
          <p:cNvSpPr/>
          <p:nvPr/>
        </p:nvSpPr>
        <p:spPr>
          <a:xfrm>
            <a:off x="822960" y="2651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AF6"/>
              </a:buClr>
              <a:buSzPts val="1400"/>
              <a:buFont typeface="Arial"/>
              <a:buNone/>
            </a:pPr>
            <a:r>
              <a:rPr b="1" lang="en-US" sz="1700">
                <a:solidFill>
                  <a:srgbClr val="7C6AF6"/>
                </a:solidFill>
                <a:latin typeface="Arial"/>
                <a:ea typeface="Arial"/>
                <a:cs typeface="Arial"/>
                <a:sym typeface="Arial"/>
              </a:rPr>
              <a:t>SECTION 4 OF 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777240" y="297180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lang="en-US" sz="4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Challenges Faced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0"/>
          <p:cNvSpPr/>
          <p:nvPr/>
        </p:nvSpPr>
        <p:spPr>
          <a:xfrm>
            <a:off x="822960" y="3977640"/>
            <a:ext cx="1005840" cy="45720"/>
          </a:xfrm>
          <a:prstGeom prst="rect">
            <a:avLst/>
          </a:prstGeom>
          <a:solidFill>
            <a:srgbClr val="7C6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83" name="Google Shape;383;p30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6DA"/>
              </a:buClr>
              <a:buSzPts val="1600"/>
              <a:buFont typeface="Arial"/>
              <a:buNone/>
            </a:pPr>
            <a:r>
              <a:rPr lang="en-US" sz="1900">
                <a:solidFill>
                  <a:srgbClr val="C9C6DA"/>
                </a:solidFill>
                <a:latin typeface="Arial"/>
                <a:ea typeface="Arial"/>
                <a:cs typeface="Arial"/>
                <a:sym typeface="Arial"/>
              </a:rPr>
              <a:t>The major hurdles encountered during development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chemeClr val="lt1"/>
                </a:solidFill>
              </a:rPr>
              <a:t>28</a:t>
            </a:r>
            <a:endParaRPr b="1"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567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5A567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1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200"/>
              <a:buFont typeface="Arial"/>
              <a:buNone/>
            </a:pPr>
            <a:r>
              <a:rPr b="1" lang="en-US" sz="15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CHALLENGES FACED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Major Hurdles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548640" y="1691640"/>
            <a:ext cx="3611880" cy="1828800"/>
          </a:xfrm>
          <a:prstGeom prst="roundRect">
            <a:avLst>
              <a:gd fmla="val 4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93" name="Google Shape;393;p31"/>
          <p:cNvSpPr/>
          <p:nvPr/>
        </p:nvSpPr>
        <p:spPr>
          <a:xfrm>
            <a:off x="768096" y="1856232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Multi-language parsing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1"/>
          <p:cNvSpPr/>
          <p:nvPr/>
        </p:nvSpPr>
        <p:spPr>
          <a:xfrm>
            <a:off x="768096" y="2258568"/>
            <a:ext cx="31729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200"/>
              <a:buFont typeface="Arial"/>
              <a:buNone/>
            </a:pPr>
            <a:r>
              <a:rPr lang="en-US" sz="15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Reliable Tree-sitter + regex-fallback parsing and accurate cross-file call graphs across 6+ languages.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1"/>
          <p:cNvSpPr/>
          <p:nvPr/>
        </p:nvSpPr>
        <p:spPr>
          <a:xfrm>
            <a:off x="4361688" y="1691640"/>
            <a:ext cx="3611880" cy="1828800"/>
          </a:xfrm>
          <a:prstGeom prst="roundRect">
            <a:avLst>
              <a:gd fmla="val 4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96" name="Google Shape;396;p31"/>
          <p:cNvSpPr/>
          <p:nvPr/>
        </p:nvSpPr>
        <p:spPr>
          <a:xfrm>
            <a:off x="4581144" y="1856232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God-file handling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1"/>
          <p:cNvSpPr/>
          <p:nvPr/>
        </p:nvSpPr>
        <p:spPr>
          <a:xfrm>
            <a:off x="4581144" y="2258568"/>
            <a:ext cx="31729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200"/>
              <a:buFont typeface="Arial"/>
              <a:buNone/>
            </a:pPr>
            <a:r>
              <a:rPr lang="en-US" sz="15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Splitting huge files into virtual modules without breaking the graph UI or severing related functions.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1"/>
          <p:cNvSpPr/>
          <p:nvPr/>
        </p:nvSpPr>
        <p:spPr>
          <a:xfrm>
            <a:off x="8174736" y="1691640"/>
            <a:ext cx="3611880" cy="1828800"/>
          </a:xfrm>
          <a:prstGeom prst="roundRect">
            <a:avLst>
              <a:gd fmla="val 4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99" name="Google Shape;399;p31"/>
          <p:cNvSpPr/>
          <p:nvPr/>
        </p:nvSpPr>
        <p:spPr>
          <a:xfrm>
            <a:off x="8394192" y="1856232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User-friendly UI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1"/>
          <p:cNvSpPr/>
          <p:nvPr/>
        </p:nvSpPr>
        <p:spPr>
          <a:xfrm>
            <a:off x="8394192" y="2258568"/>
            <a:ext cx="31729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200"/>
              <a:buFont typeface="Arial"/>
              <a:buNone/>
            </a:pPr>
            <a:r>
              <a:rPr lang="en-US" sz="15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Presenting dense analytical data (metrics, smells, risk scores) in a way that's still easy to read.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1"/>
          <p:cNvSpPr/>
          <p:nvPr/>
        </p:nvSpPr>
        <p:spPr>
          <a:xfrm>
            <a:off x="548640" y="3703320"/>
            <a:ext cx="3611880" cy="1828800"/>
          </a:xfrm>
          <a:prstGeom prst="roundRect">
            <a:avLst>
              <a:gd fmla="val 4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02" name="Google Shape;402;p31"/>
          <p:cNvSpPr/>
          <p:nvPr/>
        </p:nvSpPr>
        <p:spPr>
          <a:xfrm>
            <a:off x="768096" y="3867912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False-positive control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768096" y="4270248"/>
            <a:ext cx="31729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200"/>
              <a:buFont typeface="Arial"/>
              <a:buNone/>
            </a:pPr>
            <a:r>
              <a:rPr lang="en-US" sz="15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Confidence tiers instead of binary flags, since dead code and smells are often genuinely ambiguous.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1"/>
          <p:cNvSpPr/>
          <p:nvPr/>
        </p:nvSpPr>
        <p:spPr>
          <a:xfrm>
            <a:off x="4361688" y="3703320"/>
            <a:ext cx="3611880" cy="1828800"/>
          </a:xfrm>
          <a:prstGeom prst="roundRect">
            <a:avLst>
              <a:gd fmla="val 4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05" name="Google Shape;405;p31"/>
          <p:cNvSpPr/>
          <p:nvPr/>
        </p:nvSpPr>
        <p:spPr>
          <a:xfrm>
            <a:off x="4581144" y="3867912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LLM reliability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1"/>
          <p:cNvSpPr/>
          <p:nvPr/>
        </p:nvSpPr>
        <p:spPr>
          <a:xfrm>
            <a:off x="4581144" y="4270248"/>
            <a:ext cx="31729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200"/>
              <a:buFont typeface="Arial"/>
              <a:buNone/>
            </a:pPr>
            <a:r>
              <a:rPr lang="en-US" sz="15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A deterministic fallback plan plus prompt design that reliably returns parseable AI output.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1"/>
          <p:cNvSpPr/>
          <p:nvPr/>
        </p:nvSpPr>
        <p:spPr>
          <a:xfrm>
            <a:off x="8174736" y="3703320"/>
            <a:ext cx="3611880" cy="1828800"/>
          </a:xfrm>
          <a:prstGeom prst="roundRect">
            <a:avLst>
              <a:gd fmla="val 4000" name="adj"/>
            </a:avLst>
          </a:prstGeom>
          <a:solidFill>
            <a:srgbClr val="F7F7FB"/>
          </a:solidFill>
          <a:ln cap="flat" cmpd="sng" w="9525">
            <a:solidFill>
              <a:srgbClr val="E3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08" name="Google Shape;408;p31"/>
          <p:cNvSpPr/>
          <p:nvPr/>
        </p:nvSpPr>
        <p:spPr>
          <a:xfrm>
            <a:off x="8394192" y="3867912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CD6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5A4CD6"/>
                </a:solidFill>
                <a:latin typeface="Arial"/>
                <a:ea typeface="Arial"/>
                <a:cs typeface="Arial"/>
                <a:sym typeface="Arial"/>
              </a:rPr>
              <a:t>Session consistency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8394192" y="4270248"/>
            <a:ext cx="31729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200"/>
              <a:buFont typeface="Arial"/>
              <a:buNone/>
            </a:pPr>
            <a:r>
              <a:rPr lang="en-US" sz="1500">
                <a:solidFill>
                  <a:srgbClr val="6E7180"/>
                </a:solidFill>
                <a:latin typeface="Arial"/>
                <a:ea typeface="Arial"/>
                <a:cs typeface="Arial"/>
                <a:sym typeface="Arial"/>
              </a:rPr>
              <a:t>Keeping in-memory cache, Neo4j, and disk uploads in sync per session under concurrent requests.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rPr b="1" lang="en-US" sz="1900">
                <a:solidFill>
                  <a:srgbClr val="6E7180"/>
                </a:solidFill>
              </a:rPr>
              <a:t>29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8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6E718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11C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2"/>
          <p:cNvSpPr/>
          <p:nvPr/>
        </p:nvSpPr>
        <p:spPr>
          <a:xfrm>
            <a:off x="822960" y="260605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2"/>
          <p:cNvSpPr/>
          <p:nvPr/>
        </p:nvSpPr>
        <p:spPr>
          <a:xfrm>
            <a:off x="822960" y="3520440"/>
            <a:ext cx="1005840" cy="45720"/>
          </a:xfrm>
          <a:prstGeom prst="rect">
            <a:avLst/>
          </a:prstGeom>
          <a:solidFill>
            <a:srgbClr val="7C6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18" name="Google Shape;418;p32"/>
          <p:cNvSpPr/>
          <p:nvPr/>
        </p:nvSpPr>
        <p:spPr>
          <a:xfrm>
            <a:off x="822960" y="3657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6DA"/>
              </a:buClr>
              <a:buSzPts val="1800"/>
              <a:buFont typeface="Arial"/>
              <a:buNone/>
            </a:pPr>
            <a:r>
              <a:rPr lang="en-US" sz="2100">
                <a:solidFill>
                  <a:srgbClr val="C9C6DA"/>
                </a:solidFill>
                <a:latin typeface="Arial"/>
                <a:ea typeface="Arial"/>
                <a:cs typeface="Arial"/>
                <a:sym typeface="Arial"/>
              </a:rPr>
              <a:t>Questions &amp; Discussion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